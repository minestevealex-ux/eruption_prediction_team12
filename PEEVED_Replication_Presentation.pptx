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766560" y="2057400"/>
            <a:ext cx="0" cy="0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6824167" y="1981001"/>
            <a:ext cx="0" cy="15279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881774" y="2011656"/>
            <a:ext cx="0" cy="9148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939381" y="2005908"/>
            <a:ext cx="0" cy="10298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996988" y="1974443"/>
            <a:ext cx="0" cy="16591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054596" y="2055277"/>
            <a:ext cx="0" cy="4245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12203" y="1988451"/>
            <a:ext cx="0" cy="13789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69810" y="2017620"/>
            <a:ext cx="0" cy="7955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27417" y="2000452"/>
            <a:ext cx="0" cy="113895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85024" y="1968840"/>
            <a:ext cx="0" cy="17711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42632" y="2053139"/>
            <a:ext cx="0" cy="8521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00239" y="1996717"/>
            <a:ext cx="0" cy="121365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57846" y="2023726"/>
            <a:ext cx="0" cy="6734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515453" y="1995363"/>
            <a:ext cx="0" cy="12407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573060" y="1964245"/>
            <a:ext cx="0" cy="18630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30668" y="2050970"/>
            <a:ext cx="0" cy="1285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8275" y="2005713"/>
            <a:ext cx="0" cy="10337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45882" y="2029901"/>
            <a:ext cx="0" cy="5499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03489" y="1990715"/>
            <a:ext cx="0" cy="13336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1096" y="1960696"/>
            <a:ext cx="0" cy="19340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18704" y="2048758"/>
            <a:ext cx="0" cy="1728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976311" y="2015343"/>
            <a:ext cx="0" cy="8411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033918" y="2036076"/>
            <a:ext cx="0" cy="4264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091525" y="1986579"/>
            <a:ext cx="0" cy="141641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49132" y="1958221"/>
            <a:ext cx="0" cy="19835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206740" y="2046491"/>
            <a:ext cx="0" cy="2181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64347" y="1772748"/>
            <a:ext cx="0" cy="569303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321954" y="1847711"/>
            <a:ext cx="0" cy="419377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79561" y="1879992"/>
            <a:ext cx="0" cy="354815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37168" y="1894915"/>
            <a:ext cx="0" cy="324969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494776" y="1869660"/>
            <a:ext cx="0" cy="375479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52383" y="1822697"/>
            <a:ext cx="0" cy="469405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609990" y="1844134"/>
            <a:ext cx="0" cy="426531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67597" y="2046847"/>
            <a:ext cx="0" cy="21105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25204" y="2054984"/>
            <a:ext cx="0" cy="4831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782812" y="1819273"/>
            <a:ext cx="0" cy="476253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840419" y="1793462"/>
            <a:ext cx="0" cy="527875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898026" y="1882307"/>
            <a:ext cx="0" cy="350185"/>
          </a:xfrm>
          <a:prstGeom prst="line">
            <a:avLst/>
          </a:prstGeom>
          <a:ln w="19050">
            <a:solidFill>
              <a:srgbClr val="40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55633" y="1977896"/>
            <a:ext cx="0" cy="15900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13240" y="1957305"/>
            <a:ext cx="0" cy="20018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70848" y="2039280"/>
            <a:ext cx="0" cy="3623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128455" y="2056775"/>
            <a:ext cx="0" cy="124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186062" y="2055292"/>
            <a:ext cx="0" cy="4215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243669" y="1976434"/>
            <a:ext cx="0" cy="161931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301276" y="1959126"/>
            <a:ext cx="0" cy="19654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358884" y="2036732"/>
            <a:ext cx="0" cy="41335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416491" y="2045659"/>
            <a:ext cx="0" cy="23481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474098" y="2050020"/>
            <a:ext cx="0" cy="1475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31705" y="1975766"/>
            <a:ext cx="0" cy="16326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589312" y="1961960"/>
            <a:ext cx="0" cy="19087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646920" y="2034116"/>
            <a:ext cx="0" cy="4656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704527" y="2034613"/>
            <a:ext cx="0" cy="4557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762134" y="2045068"/>
            <a:ext cx="0" cy="2466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819741" y="1975927"/>
            <a:ext cx="0" cy="162945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877348" y="1965756"/>
            <a:ext cx="0" cy="18328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934956" y="2031443"/>
            <a:ext cx="0" cy="5191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992563" y="2023764"/>
            <a:ext cx="0" cy="67271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050170" y="2040469"/>
            <a:ext cx="0" cy="33861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107777" y="1976943"/>
            <a:ext cx="0" cy="16091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65384" y="1970456"/>
            <a:ext cx="0" cy="17388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222992" y="2028727"/>
            <a:ext cx="0" cy="57345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280599" y="2013236"/>
            <a:ext cx="0" cy="8832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338206" y="2036248"/>
            <a:ext cx="0" cy="4230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395813" y="1978828"/>
            <a:ext cx="0" cy="15714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453420" y="1975990"/>
            <a:ext cx="0" cy="16281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511028" y="2025985"/>
            <a:ext cx="0" cy="6282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568635" y="2003149"/>
            <a:ext cx="0" cy="108501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626242" y="2032421"/>
            <a:ext cx="0" cy="4995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683849" y="1981588"/>
            <a:ext cx="0" cy="15162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741456" y="1982281"/>
            <a:ext cx="0" cy="15023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799064" y="2023241"/>
            <a:ext cx="0" cy="6831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856671" y="1993620"/>
            <a:ext cx="0" cy="12755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914278" y="2029002"/>
            <a:ext cx="0" cy="56795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971885" y="1985218"/>
            <a:ext cx="0" cy="14436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1029492" y="1989243"/>
            <a:ext cx="0" cy="136313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087100" y="2020521"/>
            <a:ext cx="0" cy="7375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144707" y="1984757"/>
            <a:ext cx="0" cy="145285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202314" y="2025994"/>
            <a:ext cx="0" cy="62811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259921" y="1989701"/>
            <a:ext cx="0" cy="13539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317528" y="1996784"/>
            <a:ext cx="0" cy="121231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375136" y="2017857"/>
            <a:ext cx="0" cy="79085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432743" y="1976665"/>
            <a:ext cx="0" cy="16146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490350" y="2023396"/>
            <a:ext cx="0" cy="68007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1547957" y="1995010"/>
            <a:ext cx="0" cy="124779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1605564" y="2004809"/>
            <a:ext cx="0" cy="105181"/>
          </a:xfrm>
          <a:prstGeom prst="line">
            <a:avLst/>
          </a:prstGeom>
          <a:ln w="19050">
            <a:solidFill>
              <a:srgbClr val="233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31520" y="731520"/>
            <a:ext cx="5852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40D2BE"/>
                </a:solidFill>
                <a:latin typeface="Aptos"/>
              </a:defRPr>
            </a:pPr>
            <a:r>
              <a:t>MACHINE LEARNING • RESEARCH REPLICATION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" y="1325880"/>
            <a:ext cx="6126480" cy="1417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3200" b="1">
                <a:solidFill>
                  <a:srgbClr val="F4F7FA"/>
                </a:solidFill>
                <a:latin typeface="Aptos"/>
              </a:defRPr>
            </a:pPr>
            <a:r>
              <a:t>Can earthquakes help</a:t>
            </a:r>
            <a:br/>
            <a:r>
              <a:t>forecast volcanic eruptions?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8952" y="3063240"/>
            <a:ext cx="530352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900" b="0">
                <a:solidFill>
                  <a:srgbClr val="B1BECD"/>
                </a:solidFill>
                <a:latin typeface="Aptos"/>
              </a:defRPr>
            </a:pPr>
            <a:r>
              <a:t>Reproducing the PEEVED study, then testing a more demanding evaluation setup.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31520" y="4251960"/>
            <a:ext cx="2423160" cy="105156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4400" y="4416552"/>
            <a:ext cx="20574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4A5FF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0" y="4873752"/>
            <a:ext cx="2057400" cy="30175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4F7FA"/>
                </a:solidFill>
                <a:latin typeface="Aptos"/>
              </a:defRPr>
            </a:pPr>
            <a:r>
              <a:t>Original paper + methods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337560" y="4251960"/>
            <a:ext cx="2423160" cy="105156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20440" y="4416552"/>
            <a:ext cx="20574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AA5A"/>
                </a:solidFill>
                <a:latin typeface="Aptos"/>
              </a:defRPr>
            </a:pPr>
            <a:r>
              <a:t>EXTENSION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520440" y="4873752"/>
            <a:ext cx="2057400" cy="30175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4F7FA"/>
                </a:solidFill>
                <a:latin typeface="Aptos"/>
              </a:defRPr>
            </a:pPr>
            <a:r>
              <a:t>New split + features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9808" y="6172200"/>
            <a:ext cx="9601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B1BECD"/>
                </a:solidFill>
                <a:latin typeface="Aptos"/>
              </a:defRPr>
            </a:pPr>
            <a:r>
              <a:t>Based on Mullet, Singh &amp; Wong • Stanford CS229, Fall 2019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The problem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337560" cy="18288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64792"/>
            <a:ext cx="29718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40D2BE"/>
                </a:solidFill>
                <a:latin typeface="Aptos"/>
              </a:defRPr>
            </a:pPr>
            <a:r>
              <a:t>1  Seismic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21992"/>
            <a:ext cx="297180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Earthquakes carry signals about changing stress and volcanic unrest.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337560" cy="18288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64792"/>
            <a:ext cx="29718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4A5FF"/>
                </a:solidFill>
                <a:latin typeface="Aptos"/>
              </a:defRPr>
            </a:pPr>
            <a:r>
              <a:t>2  Learn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21992"/>
            <a:ext cx="297180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Use earthquake locations, depth, magnitude and recent event 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00200"/>
            <a:ext cx="3337560" cy="18288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64792"/>
            <a:ext cx="29718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AA5A"/>
                </a:solidFill>
                <a:latin typeface="Aptos"/>
              </a:defRPr>
            </a:pPr>
            <a:r>
              <a:t>3  Estimate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21992"/>
            <a:ext cx="297180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Classify current eruptive state or estimate time until an eruption.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77639" y="2240280"/>
            <a:ext cx="365760" cy="320040"/>
          </a:xfrm>
          <a:prstGeom prst="rightArrow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772400" y="2240280"/>
            <a:ext cx="365760" cy="320040"/>
          </a:xfrm>
          <a:prstGeom prst="rightArrow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6908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000" b="1">
                <a:solidFill>
                  <a:srgbClr val="40D2BE"/>
                </a:solidFill>
                <a:latin typeface="Aptos"/>
              </a:defRPr>
            </a:pPr>
            <a:r>
              <a:t>Important distinction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10424160" cy="10515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000" b="0">
                <a:solidFill>
                  <a:srgbClr val="F4F7FA"/>
                </a:solidFill>
                <a:latin typeface="Aptos"/>
              </a:defRPr>
            </a:pPr>
            <a:r>
              <a:t>The paper is not predicting the exact date of a future eruption from scratch. It tests two narrower tasks using a historical earthquake catalogue from Kīlauea’s East Rift Zone.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What the original paper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PAPER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18288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40D2B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76272"/>
            <a:ext cx="315468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3,764 earthquakes</a:t>
            </a:r>
            <a:br/>
            <a:r>
              <a:t>Kīlauea East Rift Zone</a:t>
            </a:r>
            <a:br/>
            <a:r>
              <a:t>ANSS catalogue via WOVOdat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19072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4A5FF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76272"/>
            <a:ext cx="315468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F4F7FA"/>
                </a:solidFill>
                <a:latin typeface="Aptos"/>
              </a:defRPr>
            </a:pPr>
            <a:r>
              <a:t>Longitude, latitude, depth, magnitude</a:t>
            </a:r>
            <a:br/>
            <a:r>
              <a:t>Earthquake counts over 1, 7 and 30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20440" cy="18288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19072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AA5A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76272"/>
            <a:ext cx="315468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70% train • 20% development</a:t>
            </a:r>
            <a:br/>
            <a:r>
              <a:t>10% test</a:t>
            </a:r>
            <a:br/>
            <a:r>
              <a:t>Stratified random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000" b="1">
                <a:solidFill>
                  <a:srgbClr val="40D2BE"/>
                </a:solidFill>
                <a:latin typeface="Aptos"/>
              </a:defRPr>
            </a:pPr>
            <a:r>
              <a:t>Two prediction 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97680"/>
            <a:ext cx="5074920" cy="141732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62272"/>
            <a:ext cx="470915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4A5FF"/>
                </a:solidFill>
                <a:latin typeface="Aptos"/>
              </a:defRPr>
            </a:pPr>
            <a:r>
              <a:t>A 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19472"/>
            <a:ext cx="4709159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Is Kīlauea erupting at the time of this earthquake? (yes / no)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97680"/>
            <a:ext cx="5074920" cy="141732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62272"/>
            <a:ext cx="470915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AA5A"/>
                </a:solidFill>
                <a:latin typeface="Aptos"/>
              </a:defRPr>
            </a:pPr>
            <a:r>
              <a:t>B 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919472"/>
            <a:ext cx="4709159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How much time remains until the next eruption begins?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Four models, two different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ORIGINAL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150876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4A5FF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846320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Linear classification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212080" cy="150876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64792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AA5A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21992"/>
            <a:ext cx="4846320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Cluster earthquake patterns; assign labels / time by nearest centroid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5212080" cy="150876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40D2BE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4846320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Ensemble of decision trees; captures nonlinear relationships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66160"/>
            <a:ext cx="5212080" cy="150876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730752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66969"/>
                </a:solidFill>
                <a:latin typeface="Aptos"/>
              </a:defRPr>
            </a:pPr>
            <a:r>
              <a:t>NEURAL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87952"/>
            <a:ext cx="4846320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Four fully connected hidden layers; about 4 million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B1BECD"/>
                </a:solidFill>
                <a:latin typeface="Aptos"/>
              </a:defRPr>
            </a:pPr>
            <a:r>
              <a:t>Metrics: Cohen’s kappa + AUROC for classification; RMSE + R² for regression.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What we changed in our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164592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1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40D2BE"/>
                </a:solidFill>
                <a:latin typeface="Aptos"/>
              </a:defRPr>
            </a:pPr>
            <a:r>
              <a:t>01  Split by time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30552"/>
            <a:ext cx="3154680" cy="8961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F4F7FA"/>
                </a:solidFill>
                <a:latin typeface="Aptos"/>
              </a:defRPr>
            </a:pPr>
            <a:r>
              <a:t>Keeps nearby earthquakes together instead of scattering individual events across splits.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64592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73351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4A5FF"/>
                </a:solidFill>
                <a:latin typeface="Aptos"/>
              </a:defRPr>
            </a:pPr>
            <a:r>
              <a:t>02  Five added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30552"/>
            <a:ext cx="3154680" cy="8961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4F7FA"/>
                </a:solidFill>
                <a:latin typeface="Aptos"/>
              </a:defRPr>
            </a:pPr>
            <a:r>
              <a:t>7-day log energy, mean depth, maximum magnitude; daily/monthly rate ratio; previous-event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520440" cy="164592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73351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AA5A"/>
                </a:solidFill>
                <a:latin typeface="Aptos"/>
              </a:defRPr>
            </a:pPr>
            <a:r>
              <a:t>03  Training safeguards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30552"/>
            <a:ext cx="3154680" cy="8961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4F7FA"/>
                </a:solidFill>
                <a:latin typeface="Aptos"/>
              </a:defRPr>
            </a:pPr>
            <a:r>
              <a:t>Fit scaler on training data only; class weighting and development-set threshold tuning.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657600"/>
            <a:ext cx="3520440" cy="141732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3822191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66969"/>
                </a:solidFill>
                <a:latin typeface="Aptos"/>
              </a:defRPr>
            </a:pPr>
            <a:r>
              <a:t>04  New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279392"/>
            <a:ext cx="3154680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F4F7FA"/>
                </a:solidFill>
                <a:latin typeface="Aptos"/>
              </a:defRPr>
            </a:pPr>
            <a:r>
              <a:t>Add HistGradientBoosting as a fifth model family.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3520440" cy="141732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822191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40D2BE"/>
                </a:solidFill>
                <a:latin typeface="Aptos"/>
              </a:defRPr>
            </a:pPr>
            <a:r>
              <a:t>05  Same core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79392"/>
            <a:ext cx="3154680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F4F7FA"/>
                </a:solidFill>
                <a:latin typeface="Aptos"/>
              </a:defRPr>
            </a:pPr>
            <a:r>
              <a:t>Keep classification and time-to-eruption regression for a comparable study.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6070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Why it matters: random splits can make near-simultaneous events look like independent test examples. Block splitting is a tougher check on generalisation.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Results: classification on the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COHEN’S KAPPA • HIGHER IS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1">
                <a:solidFill>
                  <a:srgbClr val="B1BECD"/>
                </a:solidFill>
                <a:latin typeface="Aptos"/>
              </a:defRPr>
            </a:pPr>
            <a:r>
              <a:t>PAPER (reported test values)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1">
                <a:solidFill>
                  <a:srgbClr val="B1BECD"/>
                </a:solidFill>
                <a:latin typeface="Aptos"/>
              </a:defRPr>
            </a:pPr>
            <a:r>
              <a:t>OUR NOTEBOOK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074920" cy="13716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470915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40D2BE"/>
                </a:solidFill>
                <a:latin typeface="Aptos"/>
              </a:defRPr>
            </a:pPr>
            <a:r>
              <a:t>Random Forest —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4709159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100" b="0">
                <a:solidFill>
                  <a:srgbClr val="F4F7FA"/>
                </a:solidFill>
                <a:latin typeface="Aptos"/>
              </a:defRPr>
            </a:pPr>
            <a:r>
              <a:t>Kappa 0.52   |   AUROC 0.71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074920" cy="13716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47672"/>
            <a:ext cx="470915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4A5FF"/>
                </a:solidFill>
                <a:latin typeface="Aptos"/>
              </a:defRPr>
            </a:pPr>
            <a:r>
              <a:t>Random Forest — Part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04872"/>
            <a:ext cx="4709159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000" b="0">
                <a:solidFill>
                  <a:srgbClr val="F4F7FA"/>
                </a:solidFill>
                <a:latin typeface="Aptos"/>
              </a:defRPr>
            </a:pPr>
            <a:r>
              <a:t>Kappa 0.393   |   AUROC 0.646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4F7FA"/>
                </a:solidFill>
                <a:latin typeface="Aptos"/>
              </a:defRPr>
            </a:pPr>
            <a:r>
              <a:t>Random Forest: Part A replication vs Part B extension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B1BECD"/>
                </a:solidFill>
                <a:latin typeface="Aptos"/>
              </a:defRPr>
            </a:pPr>
            <a:r>
              <a:t>Part A • kappa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133087"/>
            <a:ext cx="6675120" cy="228600"/>
          </a:xfrm>
          <a:prstGeom prst="roundRect">
            <a:avLst/>
          </a:prstGeom>
          <a:solidFill>
            <a:srgbClr val="233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4133087"/>
            <a:ext cx="4769676" cy="228600"/>
          </a:xfrm>
          <a:prstGeom prst="roundRect">
            <a:avLst/>
          </a:prstGeom>
          <a:solidFill>
            <a:srgbClr val="64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4087368"/>
            <a:ext cx="10972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64A5FF"/>
                </a:solidFill>
                <a:latin typeface="Aptos"/>
              </a:defRPr>
            </a:pPr>
            <a:r>
              <a:t>0.393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B1BECD"/>
                </a:solidFill>
                <a:latin typeface="Aptos"/>
              </a:defRPr>
            </a:pPr>
            <a:r>
              <a:t>Part B • kappa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818888"/>
            <a:ext cx="6675120" cy="228600"/>
          </a:xfrm>
          <a:prstGeom prst="roundRect">
            <a:avLst/>
          </a:prstGeom>
          <a:solidFill>
            <a:srgbClr val="233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0" y="4818888"/>
            <a:ext cx="1262204" cy="228600"/>
          </a:xfrm>
          <a:prstGeom prst="roundRect">
            <a:avLst/>
          </a:prstGeom>
          <a:solidFill>
            <a:srgbClr val="FF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4773168"/>
            <a:ext cx="10972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FFAA5A"/>
                </a:solidFill>
                <a:latin typeface="Aptos"/>
              </a:defRPr>
            </a:pPr>
            <a:r>
              <a:t>0.104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Takeaway: the random-split replication recovers useful signal, but performance drops sharply under the block-based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Results: time-to-eruption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R² • CLOSER TO 1 IS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146304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40D2BE"/>
                </a:solidFill>
                <a:latin typeface="Aptos"/>
              </a:defRPr>
            </a:pPr>
            <a:r>
              <a:t>PAPER • 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3063240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900" b="0">
                <a:solidFill>
                  <a:srgbClr val="F4F7FA"/>
                </a:solidFill>
                <a:latin typeface="Aptos"/>
              </a:defRPr>
            </a:pPr>
            <a:r>
              <a:t>R² = 0.38</a:t>
            </a:r>
            <a:br/>
            <a:r>
              <a:t>RMSE = 0.64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46304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105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4A5FF"/>
                </a:solidFill>
                <a:latin typeface="Aptos"/>
              </a:defRPr>
            </a:pPr>
            <a:r>
              <a:t>PART A • 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67712"/>
            <a:ext cx="3063240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900" b="0">
                <a:solidFill>
                  <a:srgbClr val="F4F7FA"/>
                </a:solidFill>
                <a:latin typeface="Aptos"/>
              </a:defRPr>
            </a:pPr>
            <a:r>
              <a:t>R² = 0.390</a:t>
            </a:r>
            <a:br/>
            <a:r>
              <a:t>RMSE = 0.797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146304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105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AA5A"/>
                </a:solidFill>
                <a:latin typeface="Aptos"/>
              </a:defRPr>
            </a:pPr>
            <a:r>
              <a:t>PART B • 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67712"/>
            <a:ext cx="3063240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900" b="0">
                <a:solidFill>
                  <a:srgbClr val="F4F7FA"/>
                </a:solidFill>
                <a:latin typeface="Aptos"/>
              </a:defRPr>
            </a:pPr>
            <a:r>
              <a:t>R² ≈ 0.000</a:t>
            </a:r>
            <a:br/>
            <a:r>
              <a:t>RMSE = 0.720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000" b="1">
                <a:solidFill>
                  <a:srgbClr val="40D2BE"/>
                </a:solidFill>
                <a:latin typeface="Aptos"/>
              </a:defRPr>
            </a:pPr>
            <a:r>
              <a:t>How to interpret this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10424160" cy="155448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 Part A broadly matches the paper’s conclusion: random forest is the strongest regression model in this run.</a:t>
            </a:r>
          </a:p>
          <a:p>
            <a:pPr>
              <a:spcAft>
                <a:spcPts val="8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 Part B’s R² near zero means it offers almost no improvement over predicting the test-set mean.</a:t>
            </a:r>
          </a:p>
          <a:p>
            <a:pPr>
              <a:spcAft>
                <a:spcPts val="8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 RMSE values are on the scaled target in this notebook; don’t describe them as hours or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Why did the scores fall?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INTERPRETATION, NOT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074920" cy="16002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470915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40D2BE"/>
                </a:solidFill>
                <a:latin typeface="Aptos"/>
              </a:defRPr>
            </a:pPr>
            <a:r>
              <a:t>Likely factor: less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709159" cy="8503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F4F7FA"/>
                </a:solidFill>
                <a:latin typeface="Aptos"/>
              </a:defRPr>
            </a:pPr>
            <a:r>
              <a:t>Earthquakes close in time share labels and rate features. Random splitting can put near-duplicates in train and test; block splitting reduces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074920" cy="16002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64792"/>
            <a:ext cx="470915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AA5A"/>
                </a:solidFill>
                <a:latin typeface="Aptos"/>
              </a:defRPr>
            </a:pPr>
            <a:r>
              <a:t>Also changed: several things at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21992"/>
            <a:ext cx="4709159" cy="8503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F4F7FA"/>
                </a:solidFill>
                <a:latin typeface="Aptos"/>
              </a:defRPr>
            </a:pPr>
            <a:r>
              <a:t>Part B changes the split, feature set, scaling, class weights, threshold selection and model lineup. This is not a controlled one-variable ablation.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074920" cy="150876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22191"/>
            <a:ext cx="470915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66969"/>
                </a:solidFill>
                <a:latin typeface="Aptos"/>
              </a:defRPr>
            </a:pPr>
            <a:r>
              <a:t>Neural network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79392"/>
            <a:ext cx="4709159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F4F7FA"/>
                </a:solidFill>
                <a:latin typeface="Aptos"/>
              </a:defRPr>
            </a:pPr>
            <a:r>
              <a:t>Training loss falls while development loss rises sharply in Part B: strong overfitting is visible in the saved logs.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074920" cy="150876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822191"/>
            <a:ext cx="470915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4A5FF"/>
                </a:solidFill>
                <a:latin typeface="Aptos"/>
              </a:defRPr>
            </a:pPr>
            <a:r>
              <a:t>Caution about the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79392"/>
            <a:ext cx="4709159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F4F7FA"/>
                </a:solidFill>
                <a:latin typeface="Aptos"/>
              </a:defRPr>
            </a:pPr>
            <a:r>
              <a:t>Blocks are assigned randomly to train/dev/test, not strictly chronologically. This is tougher than event-level random splitting, but not a real future-only forecast 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What did the extra features achieve?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USEFUL NEXT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81912"/>
            <a:ext cx="201168" cy="201168"/>
          </a:xfrm>
          <a:prstGeom prst="ellipse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508760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F4F7FA"/>
                </a:solidFill>
                <a:latin typeface="Aptos"/>
              </a:defRPr>
            </a:pPr>
            <a:r>
              <a:t>LOG ENERGY (7D)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08760"/>
            <a:ext cx="68580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B1BECD"/>
                </a:solidFill>
                <a:latin typeface="Aptos"/>
              </a:defRPr>
            </a:pPr>
            <a:r>
              <a:t>Approximate cumulative seismic energy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86584"/>
            <a:ext cx="201168" cy="201168"/>
          </a:xfrm>
          <a:prstGeom prst="ellipse">
            <a:avLst/>
          </a:prstGeom>
          <a:solidFill>
            <a:srgbClr val="64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31343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F4F7FA"/>
                </a:solidFill>
                <a:latin typeface="Aptos"/>
              </a:defRPr>
            </a:pPr>
            <a:r>
              <a:t>MEAN DEPTH (7D)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313432"/>
            <a:ext cx="68580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B1BECD"/>
                </a:solidFill>
                <a:latin typeface="Aptos"/>
              </a:defRPr>
            </a:pPr>
            <a:r>
              <a:t>Average depth of recent earthquakes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191256"/>
            <a:ext cx="201168" cy="201168"/>
          </a:xfrm>
          <a:prstGeom prst="ellipse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118104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F4F7FA"/>
                </a:solidFill>
                <a:latin typeface="Aptos"/>
              </a:defRPr>
            </a:pPr>
            <a:r>
              <a:t>MAX MAGNITUDE (7D)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3118104"/>
            <a:ext cx="68580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B1BECD"/>
                </a:solidFill>
                <a:latin typeface="Aptos"/>
              </a:defRPr>
            </a:pPr>
            <a:r>
              <a:t>Largest recent event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995928"/>
            <a:ext cx="201168" cy="201168"/>
          </a:xfrm>
          <a:prstGeom prst="ellipse">
            <a:avLst/>
          </a:prstGeom>
          <a:solidFill>
            <a:srgbClr val="64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922776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F4F7FA"/>
                </a:solidFill>
                <a:latin typeface="Aptos"/>
              </a:defRPr>
            </a:pPr>
            <a:r>
              <a:t>DAILY / MONTHLY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922776"/>
            <a:ext cx="68580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B1BECD"/>
                </a:solidFill>
                <a:latin typeface="Aptos"/>
              </a:defRPr>
            </a:pPr>
            <a:r>
              <a:t>Short-term activity relative to longer-term activity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800600"/>
            <a:ext cx="201168" cy="201168"/>
          </a:xfrm>
          <a:prstGeom prst="ellipse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727448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F4F7FA"/>
                </a:solidFill>
                <a:latin typeface="Aptos"/>
              </a:defRPr>
            </a:pPr>
            <a:r>
              <a:t>PREVIOUS EVENT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727448"/>
            <a:ext cx="68580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B1BECD"/>
                </a:solidFill>
                <a:latin typeface="Aptos"/>
              </a:defRPr>
            </a:pPr>
            <a:r>
              <a:t>Log time since the previous earthquake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FFAA5A"/>
                </a:solidFill>
                <a:latin typeface="Aptos"/>
              </a:defRPr>
            </a:pPr>
            <a:r>
              <a:t>The notebook plots feature importance, but the saved summary does not establish that the added features improved test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Limitations and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WHAT WE CAN HONESTLY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411480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 Single volcano and a historical catalogue ending in 1986 limit generalisation.</a:t>
            </a:r>
          </a:p>
          <a:p>
            <a:pPr>
              <a:spcAft>
                <a:spcPts val="14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 Eruption labels use an episode table and a 24-hour buffer; labels are a simplified representation of volcanic state.</a:t>
            </a:r>
          </a:p>
          <a:p>
            <a:pPr>
              <a:spcAft>
                <a:spcPts val="14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 The modified experiment changes multiple design choices at once, so the cause of each score change cannot be isolated.</a:t>
            </a:r>
          </a:p>
          <a:p>
            <a:pPr>
              <a:spcAft>
                <a:spcPts val="14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 The extension does not improve predictive performance in this run; it exposes how sensitive the results are to evaluation design.</a:t>
            </a:r>
          </a:p>
          <a:p>
            <a:pPr>
              <a:spcAft>
                <a:spcPts val="14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 Neither model should be treated as an operational volcanic early-warning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650992"/>
            <a:ext cx="1010411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40D2BE"/>
                </a:solidFill>
                <a:latin typeface="Aptos"/>
              </a:defRPr>
            </a:pPr>
            <a:r>
              <a:t>BOTTOM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108192"/>
            <a:ext cx="10104119" cy="-15544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4F7FA"/>
                </a:solidFill>
                <a:latin typeface="Aptos"/>
              </a:defRPr>
            </a:pPr>
            <a:r>
              <a:t>A replication can look promising under a random split; a more realistic split can reveal much weaker generalisation.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WHAT THIS PROJECT DEMONSTRATES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40D2BE"/>
                </a:solidFill>
                <a:latin typeface="Aptos"/>
              </a:defRPr>
            </a:pPr>
            <a:r>
              <a:t>REPLICATED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306324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The baseline run reproduces the broad pattern that random forests are competitive on both 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105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4A5FF"/>
                </a:solidFill>
                <a:latin typeface="Aptos"/>
              </a:defRPr>
            </a:pPr>
            <a:r>
              <a:t>MODIFIED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67712"/>
            <a:ext cx="306324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We added time-block evaluation, seismic summary features, imbalance handling and HistGradientBoosting.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1B2635"/>
          </a:solidFill>
          <a:ln>
            <a:solidFill>
              <a:srgbClr val="233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105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AA5A"/>
                </a:solidFill>
                <a:latin typeface="Aptos"/>
              </a:defRPr>
            </a:pPr>
            <a:r>
              <a:t>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67712"/>
            <a:ext cx="306324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4F7FA"/>
                </a:solidFill>
                <a:latin typeface="Aptos"/>
              </a:defRPr>
            </a:pPr>
            <a:r>
              <a:t>Results degrade under the modified split; evaluation design is part of the scientific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000" b="1">
                <a:solidFill>
                  <a:srgbClr val="40D2BE"/>
                </a:solidFill>
                <a:latin typeface="Aptos"/>
              </a:defRPr>
            </a:pPr>
            <a:r>
              <a:t>Defensible final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1042416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900" b="0">
                <a:solidFill>
                  <a:srgbClr val="F4F7FA"/>
                </a:solidFill>
                <a:latin typeface="Aptos"/>
              </a:defRPr>
            </a:pPr>
            <a:r>
              <a:t>Earthquake catalogues contain some information about eruptive state, but the experiments do not establish reliable time-to-eruption forecasting. Generalisation needs stronger validation and richer monitoring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"/>
              </a:defRPr>
            </a:pPr>
            <a:r>
              <a:t>Sources and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40D2BE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16152"/>
            <a:ext cx="658368" cy="41148"/>
          </a:xfrm>
          <a:prstGeom prst="rect">
            <a:avLst/>
          </a:prstGeom>
          <a:solidFill>
            <a:srgbClr val="4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B1BECD"/>
                </a:solidFill>
                <a:latin typeface="Aptos"/>
              </a:defRPr>
            </a:pPr>
            <a:r>
              <a:t>PEEVED • REPLICATION +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000" b="0">
                <a:solidFill>
                  <a:srgbClr val="B1BEC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98480" cy="228600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 Mullet, B., Singh, A., &amp; Wong, Y.-Q. (2019). Predicting Eruptive Events at Volcanoes from Earthquake Data. Stanford CS229 project report.</a:t>
            </a:r>
          </a:p>
          <a:p>
            <a:pPr>
              <a:spcAft>
                <a:spcPts val="12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 Original code repository: https://github.com/bmullet/PEEVED</a:t>
            </a:r>
          </a:p>
          <a:p>
            <a:pPr>
              <a:spcAft>
                <a:spcPts val="12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 Replication + extension notebook: mlminiproj.ipynb (uploaded project artifact).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40D2BE"/>
                </a:solidFill>
                <a:latin typeface="Aptos"/>
              </a:defRPr>
            </a:pPr>
            <a:r>
              <a:t>Numbers in this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103327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B1BECD"/>
                </a:solidFill>
                <a:latin typeface="Aptos"/>
              </a:defRPr>
            </a:pPr>
            <a:r>
              <a:t>Paper values are transcribed from the report’s results tables. Part A / Part B values are from the saved outputs in the submitted notebook. Small differences from the paper are expected due to implementation and training differences.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